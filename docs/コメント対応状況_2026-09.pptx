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7件のコメントに対する対応状況をまとめたもの。各コメントについて、実際の画面で対応箇所を示す。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6件は実装済み、独自性の整理のみ未着手。加えて、判定ロジックの統一と自動検証を入れた。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以前はトップに全知識を並べていた。今は1語＝5問の連鎖で、考える対象が順に切り替わる。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連鎖の要。前問の結論を導入文に埋め込み、次に考えることを明示する。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ご指摘の例題をそのまま出題タイプとして実装した。フェーズ1に文法形式は出てこない。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音韻形態を先に確定させ、その予測を手がかりに素性を考えさせる。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ご指摘の例は研究データと合わなかったため、予測を持たせない形に修正した。例外語は自動検出している。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自力で判断する設計は維持しつつ、段階的に支援を開ける形にした。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Step3に入る前に、表現形式そのものを学ぶ場を用意した。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正誤で終わらせず、どの素性がどうだから結びつかないのかを必ず出す。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誤答生成の仕組み自体が、説明可能性を保証している。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唯一の未対応項目。ただし素材はそろっている：一貫した学習の流れ、素性ベースの自動フィードバック、研究資料との整合検証。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テンプレート連結をやめ、語ごとの自然文に差し替えた。誤答は素性条件を満たさない形式から自動生成。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6件は実装済み。残るのは独自性の整理のみで、その材料は今回の改修でそろっている。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いただいたコメントへの対応状況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43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オノマトペ学習支援システム（study_app）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3657600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2C3B7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7673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7件のコメントのうち 6件を実装済み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4114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残り1件（独自性の整理）は未着手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760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2026年9月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対応状況の一覧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7863840" cy="621792"/>
          </a:xfrm>
          <a:prstGeom prst="roundRect">
            <a:avLst>
              <a:gd name="adj" fmla="val 11765"/>
            </a:avLst>
          </a:prstGeom>
          <a:solidFill>
            <a:srgbClr val="F7F9FD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136245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1362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234440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学習フェーズを再設計する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903720" y="138988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1D7F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903720" y="138988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7F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対応済み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947672"/>
            <a:ext cx="7863840" cy="621792"/>
          </a:xfrm>
          <a:prstGeom prst="roundRect">
            <a:avLst>
              <a:gd name="adj" fmla="val 11765"/>
            </a:avLst>
          </a:prstGeom>
          <a:solidFill>
            <a:srgbClr val="F7F9FD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207568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1947672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素性の学習を強化する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903720" y="210312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1D7F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03720" y="210312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7F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対応済み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660904"/>
            <a:ext cx="7863840" cy="621792"/>
          </a:xfrm>
          <a:prstGeom prst="roundRect">
            <a:avLst>
              <a:gd name="adj" fmla="val 11765"/>
            </a:avLst>
          </a:prstGeom>
          <a:solidFill>
            <a:srgbClr val="F7F9FD"/>
          </a:solidFill>
          <a:ln/>
        </p:spPr>
      </p:sp>
      <p:sp>
        <p:nvSpPr>
          <p:cNvPr id="16" name="Shape 14"/>
          <p:cNvSpPr/>
          <p:nvPr/>
        </p:nvSpPr>
        <p:spPr>
          <a:xfrm>
            <a:off x="713232" y="2788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3232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2660904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素性と音韻形態の関係を明確に説明する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903720" y="2816352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1D7F4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03720" y="281635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7F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対応済み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374136"/>
            <a:ext cx="7863840" cy="621792"/>
          </a:xfrm>
          <a:prstGeom prst="roundRect">
            <a:avLst>
              <a:gd name="adj" fmla="val 11765"/>
            </a:avLst>
          </a:prstGeom>
          <a:solidFill>
            <a:srgbClr val="F7F9FD"/>
          </a:solidFill>
          <a:ln/>
        </p:spPr>
      </p:sp>
      <p:sp>
        <p:nvSpPr>
          <p:cNvPr id="22" name="Shape 20"/>
          <p:cNvSpPr/>
          <p:nvPr/>
        </p:nvSpPr>
        <p:spPr>
          <a:xfrm>
            <a:off x="713232" y="350215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3232" y="3502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3374136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Step3の設計を再検討する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903720" y="352958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1D7F4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03720" y="352958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7F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対応済み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087368"/>
            <a:ext cx="7863840" cy="621792"/>
          </a:xfrm>
          <a:prstGeom prst="roundRect">
            <a:avLst>
              <a:gd name="adj" fmla="val 11765"/>
            </a:avLst>
          </a:prstGeom>
          <a:solidFill>
            <a:srgbClr val="F7F9FD"/>
          </a:solidFill>
          <a:ln/>
        </p:spPr>
      </p:sp>
      <p:sp>
        <p:nvSpPr>
          <p:cNvPr id="28" name="Shape 26"/>
          <p:cNvSpPr/>
          <p:nvPr/>
        </p:nvSpPr>
        <p:spPr>
          <a:xfrm>
            <a:off x="713232" y="421538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13232" y="4215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234440" y="4087368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誤答時のフィードバックを具体化する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903720" y="4242816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1D7F4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903720" y="424281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7F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対応済み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4800600"/>
            <a:ext cx="7863840" cy="621792"/>
          </a:xfrm>
          <a:prstGeom prst="roundRect">
            <a:avLst>
              <a:gd name="adj" fmla="val 11765"/>
            </a:avLst>
          </a:prstGeom>
          <a:solidFill>
            <a:srgbClr val="FDF6EC"/>
          </a:solidFill>
          <a:ln/>
        </p:spPr>
      </p:sp>
      <p:sp>
        <p:nvSpPr>
          <p:cNvPr id="34" name="Shape 32"/>
          <p:cNvSpPr/>
          <p:nvPr/>
        </p:nvSpPr>
        <p:spPr>
          <a:xfrm>
            <a:off x="713232" y="492861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13232" y="4928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234440" y="4800600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システムの狙い・独自性を明確にする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903720" y="4956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FCEFDD"/>
          </a:solidFill>
          <a:ln w="12700">
            <a:solidFill>
              <a:srgbClr val="C9700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903720" y="4956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70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未対応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5513832"/>
            <a:ext cx="7863840" cy="621792"/>
          </a:xfrm>
          <a:prstGeom prst="roundRect">
            <a:avLst>
              <a:gd name="adj" fmla="val 11765"/>
            </a:avLst>
          </a:prstGeom>
          <a:solidFill>
            <a:srgbClr val="F7F9FD"/>
          </a:solidFill>
          <a:ln/>
        </p:spPr>
      </p:sp>
      <p:sp>
        <p:nvSpPr>
          <p:cNvPr id="40" name="Shape 38"/>
          <p:cNvSpPr/>
          <p:nvPr/>
        </p:nvSpPr>
        <p:spPr>
          <a:xfrm>
            <a:off x="713232" y="564184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13232" y="5641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1234440" y="5513832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Step4の例文生成を見直す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903720" y="566928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1D7F4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903720" y="56692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7F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対応済み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869680" y="1234440"/>
            <a:ext cx="2743200" cy="2286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8869680" y="14630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/ 7</a:t>
            </a:r>
            <a:endParaRPr lang="en-US" sz="6200" dirty="0"/>
          </a:p>
        </p:txBody>
      </p:sp>
      <p:sp>
        <p:nvSpPr>
          <p:cNvPr id="47" name="Text 45"/>
          <p:cNvSpPr txBox="1"/>
          <p:nvPr/>
        </p:nvSpPr>
        <p:spPr>
          <a:xfrm>
            <a:off x="886968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実装済み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8869680" y="3749040"/>
            <a:ext cx="2743200" cy="2468880"/>
          </a:xfrm>
          <a:prstGeom prst="roundRect">
            <a:avLst>
              <a:gd name="adj" fmla="val 4444"/>
            </a:avLst>
          </a:prstGeom>
          <a:solidFill>
            <a:srgbClr val="F7F9FD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9052560" y="3931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あわせて行ったこと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9052560" y="429768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判定を素性の照合に統一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研究資料との整合を自動検証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全画面の動作を自動確認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学習フェーズを再設計する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0332720" y="51206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1D7F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332720" y="51206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7F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対応済み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577840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13441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指摘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1600200"/>
            <a:ext cx="5175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「何を考えるか」「次に何を考えるか」をフェーズ化し、意図した演習につながる流れを設計する。トップページに説明をまとめて提示するのではなく、学習内容を段階的に提示する。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8803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7F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154680"/>
            <a:ext cx="5577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知識ページの通読をやめ、1語について5つの問いを順にたどる形にした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 → 音の形 → 継続性 → 動作性 → 意志性 の順で、考える対象が1つずつ切り替わる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各問には、その問いに必要な説明だけを出す</a:t>
            </a:r>
            <a:endParaRPr lang="en-US" sz="1300" dirty="0"/>
          </a:p>
        </p:txBody>
      </p:sp>
      <p:pic>
        <p:nvPicPr>
          <p:cNvPr id="12" name="Image 0" descr="/home/claude/shots/c1_phas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123540"/>
            <a:ext cx="5760720" cy="270236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E2761">
                <a:alpha val="22000"/>
              </a:srgbClr>
            </a:outerShdw>
          </a:effectLst>
        </p:spPr>
      </p:pic>
      <p:sp>
        <p:nvSpPr>
          <p:cNvPr id="13" name="Text 10"/>
          <p:cNvSpPr txBox="1"/>
          <p:nvPr/>
        </p:nvSpPr>
        <p:spPr>
          <a:xfrm>
            <a:off x="6400800" y="582472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フェーズ1トップ：5つの問いの流れを提示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前の答えが、次の問いの前提になる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0332720" y="51206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1D7F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332720" y="51206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7F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対応済み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577840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13441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指摘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1600200"/>
            <a:ext cx="5175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意図した演習につながる流れを設計する。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8803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7F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154680"/>
            <a:ext cx="5577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第3問：「2モーラ反復形でした。この形は〈＋継続性〉になりやすい形です。では実際は？」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第4問：「継続性は〈＋継続性〉でした。継続性が低いほど動作性は高くなります。では？」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学習者が次に何を考えればよいかを、システムが毎回明示する</a:t>
            </a:r>
            <a:endParaRPr lang="en-US" sz="1300" dirty="0"/>
          </a:p>
        </p:txBody>
      </p:sp>
      <p:pic>
        <p:nvPicPr>
          <p:cNvPr id="12" name="Image 0" descr="/home/claude/shots/c1_q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3132" y="1234440"/>
            <a:ext cx="4176056" cy="448056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E2761">
                <a:alpha val="22000"/>
              </a:srgbClr>
            </a:outerShdw>
          </a:effectLst>
        </p:spPr>
      </p:pic>
      <p:sp>
        <p:nvSpPr>
          <p:cNvPr id="13" name="Text 10"/>
          <p:cNvSpPr txBox="1"/>
          <p:nvPr/>
        </p:nvSpPr>
        <p:spPr>
          <a:xfrm>
            <a:off x="6400800" y="582472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第4問：前問（継続性）の結果を受けて動作性を問う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素性の学習を強化する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0332720" y="51206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1D7F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332720" y="51206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7F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対応済み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577840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13441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指摘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1600200"/>
            <a:ext cx="5175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者が素性を意識せず、直接文法形式を判断してしまう可能性がある。文法形式を学習する前に、素性だけを判断する演習を設ける。例：「継続性＋、動作性（中）、意志性－に当てはまるオノマトペはどれか」を選択する問題を追加する。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8803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7F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154680"/>
            <a:ext cx="5577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フェーズ1には文法形式を一切出さない。素性だけを扱う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ご指摘の例題をそのまま実装：素性の組み合わせから語を逆引きする問題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総合ドリルは4タイプ（素性値を答える／音の形から予測／同素性さがし／組み合わせ逆引き）</a:t>
            </a:r>
            <a:endParaRPr lang="en-US" sz="1300" dirty="0"/>
          </a:p>
        </p:txBody>
      </p:sp>
      <p:pic>
        <p:nvPicPr>
          <p:cNvPr id="12" name="Image 0" descr="/home/claude/shots/c2_dri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957676"/>
            <a:ext cx="5760720" cy="3034087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E2761">
                <a:alpha val="22000"/>
              </a:srgbClr>
            </a:outerShdw>
          </a:effectLst>
        </p:spPr>
      </p:pic>
      <p:sp>
        <p:nvSpPr>
          <p:cNvPr id="13" name="Text 10"/>
          <p:cNvSpPr txBox="1"/>
          <p:nvPr/>
        </p:nvSpPr>
        <p:spPr>
          <a:xfrm>
            <a:off x="6400800" y="582472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素性の組み合わせから語を逆引きする問題（出題ごとに組み合わせは変わる）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素性と音韻形態の関係を明確に説明する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0332720" y="51206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1D7F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332720" y="51206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7F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対応済み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577840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13441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指摘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1600200"/>
            <a:ext cx="5175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「2モーラ反復形だから動作性が高い」など、音韻形態と素性の関係を最初の学習で説明する。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8803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7F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154680"/>
            <a:ext cx="5577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音の形を問う第2問を、素性を問う前に置いた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第3問の導入で「この形は〈＋継続性〉になりやすい」と関係を明示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答え合わせでは、予測どおりか例外かをバッジで示す</a:t>
            </a:r>
            <a:endParaRPr lang="en-US" sz="1300" dirty="0"/>
          </a:p>
        </p:txBody>
      </p:sp>
      <p:pic>
        <p:nvPicPr>
          <p:cNvPr id="12" name="Image 0" descr="/home/claude/shots/c3_q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2904" y="1234440"/>
            <a:ext cx="4096512" cy="448056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E2761">
                <a:alpha val="22000"/>
              </a:srgbClr>
            </a:outerShdw>
          </a:effectLst>
        </p:spPr>
      </p:pic>
      <p:sp>
        <p:nvSpPr>
          <p:cNvPr id="13" name="Text 10"/>
          <p:cNvSpPr txBox="1"/>
          <p:nvPr/>
        </p:nvSpPr>
        <p:spPr>
          <a:xfrm>
            <a:off x="6400800" y="582472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第3問：音の形と素性の関係を示してから継続性を問う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ただし、反復形と動作性の関係は成り立たなかった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0332720" y="51206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1D7F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332720" y="51206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7F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対応済み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EEF3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13441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指摘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1600200"/>
            <a:ext cx="4718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「2モーラ反復形だから動作性が高い」など、音韻形態と素性の関係を説明する。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6974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7F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97180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39語で確かめると、反復形の動作性は 高（きょろきょろ）／中（いらいら）／低（ごろごろ）に割れる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そこで反復形の動作性は「—（語による）」とし、予測を出さない設計に変更した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継続性は反復形から安定して予測できるため、そちらは予測として提示する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「予測は出発点、最後は意味で決める」ことを学習内容そのものにした</a:t>
            </a:r>
            <a:endParaRPr lang="en-US" sz="1300" dirty="0"/>
          </a:p>
        </p:txBody>
      </p:sp>
      <p:pic>
        <p:nvPicPr>
          <p:cNvPr id="12" name="Image 0" descr="/home/claude/shots/c3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1373" y="1234440"/>
            <a:ext cx="4196615" cy="219456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E2761">
                <a:alpha val="22000"/>
              </a:srgbClr>
            </a:outerShdw>
          </a:effectLst>
        </p:spPr>
      </p:pic>
      <p:sp>
        <p:nvSpPr>
          <p:cNvPr id="13" name="Text 10"/>
          <p:cNvSpPr txBox="1"/>
          <p:nvPr/>
        </p:nvSpPr>
        <p:spPr>
          <a:xfrm>
            <a:off x="6035040" y="345643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対応表：予測できる素性と、予測が外れる語を明示</a:t>
            </a:r>
            <a:endParaRPr lang="en-US" sz="1050" dirty="0"/>
          </a:p>
        </p:txBody>
      </p:sp>
      <p:pic>
        <p:nvPicPr>
          <p:cNvPr id="14" name="Image 1" descr="/home/claude/shots/c3_excep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2517" y="3950208"/>
            <a:ext cx="3154326" cy="228600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E2761">
                <a:alpha val="22000"/>
              </a:srgbClr>
            </a:outerShdw>
          </a:effectLst>
        </p:spPr>
      </p:pic>
      <p:sp>
        <p:nvSpPr>
          <p:cNvPr id="15" name="Text 11"/>
          <p:cNvSpPr txBox="1"/>
          <p:nvPr/>
        </p:nvSpPr>
        <p:spPr>
          <a:xfrm>
            <a:off x="6035040" y="63276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「ゆっくり」は予測の例外。その場で理由を示す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Step3の設計を再検討する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0332720" y="51206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1D7F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332720" y="51206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7F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対応済み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577840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13441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指摘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1600200"/>
            <a:ext cx="5175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接続を学習者が自力で判断する設計でよいか。学習者は接続表現を事前に学習していないため、ヒントを見ながら解答できる形式も検討する。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8803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7F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154680"/>
            <a:ext cx="5577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3段階ヒントを追加（①この語の素性 → ②各表現の前接条件 → ③照合表）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順番にしか開けない設計にし、どこまで使ったかを結果画面に表示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10形式を局面別（直前・開始・継続…）にまとめ、一度に比べる数を減らした</a:t>
            </a:r>
            <a:endParaRPr lang="en-US" sz="1300" dirty="0"/>
          </a:p>
        </p:txBody>
      </p:sp>
      <p:pic>
        <p:nvPicPr>
          <p:cNvPr id="12" name="Image 0" descr="/home/claude/shots/c4_step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2694" y="1234440"/>
            <a:ext cx="5316931" cy="448056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E2761">
                <a:alpha val="22000"/>
              </a:srgbClr>
            </a:outerShdw>
          </a:effectLst>
        </p:spPr>
      </p:pic>
      <p:sp>
        <p:nvSpPr>
          <p:cNvPr id="13" name="Text 10"/>
          <p:cNvSpPr txBox="1"/>
          <p:nvPr/>
        </p:nvSpPr>
        <p:spPr>
          <a:xfrm>
            <a:off x="6400800" y="582472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Step3：ヒントを見ながら解答できる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接続表現を事前に学ぶ場を新設した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0332720" y="51206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1D7F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332720" y="51206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7F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対応済み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577840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13441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指摘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1600200"/>
            <a:ext cx="5175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学習者は接続表現を事前に学習していない。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8803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7F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154680"/>
            <a:ext cx="5577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フェーズ2に、表現形式10件の詳細カードを追加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必要な素性・なぜその条件が要るのか・○例／×例をすべて明示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前接条件ドリルを新設し、素性の演習とは別に練習できるようにした</a:t>
            </a:r>
            <a:endParaRPr lang="en-US" sz="1300" dirty="0"/>
          </a:p>
        </p:txBody>
      </p:sp>
      <p:pic>
        <p:nvPicPr>
          <p:cNvPr id="12" name="Image 0" descr="/home/claude/shots/c4_phas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2371" y="1234440"/>
            <a:ext cx="4197577" cy="448056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E2761">
                <a:alpha val="22000"/>
              </a:srgbClr>
            </a:outerShdw>
          </a:effectLst>
        </p:spPr>
      </p:pic>
      <p:sp>
        <p:nvSpPr>
          <p:cNvPr id="13" name="Text 10"/>
          <p:cNvSpPr txBox="1"/>
          <p:nvPr/>
        </p:nvSpPr>
        <p:spPr>
          <a:xfrm>
            <a:off x="6400800" y="582472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フェーズ2：表現形式ごとの詳細カード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誤答時のフィードバックを具体化する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0332720" y="51206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1D7F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332720" y="51206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7F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対応済み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577840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13441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指摘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1600200"/>
            <a:ext cx="5175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誤答時にどのようなフィードバックを提示するかを検討する。正解だけでなく、「なぜその文法形式になるのか」が理解できるよう、語彙的意味・語彙的アスペクトに基づく理由を示す。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8803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7F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154680"/>
            <a:ext cx="5577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前接条件を素性の集合として持たせ、判定とフィードバックを素性照合から自動生成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「動作性が条件を満たさないので結びつきません」と、足りない素性を名指しする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満たす素性・満たさない素性を1つずつ列挙し、理由も添える</a:t>
            </a:r>
            <a:endParaRPr lang="en-US" sz="1300" dirty="0"/>
          </a:p>
        </p:txBody>
      </p:sp>
      <p:pic>
        <p:nvPicPr>
          <p:cNvPr id="12" name="Image 0" descr="/home/claude/shots/c5_step3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2475" y="1234440"/>
            <a:ext cx="4557370" cy="448056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E2761">
                <a:alpha val="22000"/>
              </a:srgbClr>
            </a:outerShdw>
          </a:effectLst>
        </p:spPr>
      </p:pic>
      <p:sp>
        <p:nvSpPr>
          <p:cNvPr id="13" name="Text 10"/>
          <p:cNvSpPr txBox="1"/>
          <p:nvPr/>
        </p:nvSpPr>
        <p:spPr>
          <a:xfrm>
            <a:off x="6400800" y="582472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Step3結果：どの素性が条件を満たさないかを示す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例文練習でも同じ説明を出す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0332720" y="51206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1D7F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332720" y="51206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7F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対応済み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577840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13441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指摘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1600200"/>
            <a:ext cx="5175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「なぜその文法形式になるのか」が理解できるようにする。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8803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7F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154680"/>
            <a:ext cx="5577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誤答の選択肢は、その語の素性条件を満たさない形式からのみ生成している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したがって、どの誤答も必ず素性で説明できる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正解についても、条件を満たす理由を同じ形式で示す</a:t>
            </a:r>
            <a:endParaRPr lang="en-US" sz="1300" dirty="0"/>
          </a:p>
        </p:txBody>
      </p:sp>
      <p:pic>
        <p:nvPicPr>
          <p:cNvPr id="12" name="Image 0" descr="/home/claude/shots/c7_step4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508" y="1234440"/>
            <a:ext cx="3629305" cy="448056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E2761">
                <a:alpha val="22000"/>
              </a:srgbClr>
            </a:outerShdw>
          </a:effectLst>
        </p:spPr>
      </p:pic>
      <p:sp>
        <p:nvSpPr>
          <p:cNvPr id="13" name="Text 10"/>
          <p:cNvSpPr txBox="1"/>
          <p:nvPr/>
        </p:nvSpPr>
        <p:spPr>
          <a:xfrm>
            <a:off x="6400800" y="582472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Step4結果：選択肢ごとに可否の理由を表示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システムの狙い・独自性を明確にする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0332720" y="51206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FCEFDD"/>
          </a:solidFill>
          <a:ln w="12700">
            <a:solidFill>
              <a:srgbClr val="C9700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332720" y="51206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70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未対応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13441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指摘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1600200"/>
            <a:ext cx="4901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フィードバックを通して何を学ばせたいのかを整理する。一般的な教材と比べて、本システムならではの強みを明確にする。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8803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0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現状：文書としての整理は未着手。ただし材料はそろった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2918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7F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566160"/>
            <a:ext cx="5303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学習の流れ：素性 → 語彙的アスペクト → 文法形式 を一貫してたどらせる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フィードバック：正誤で終わらせず、どの素性が足りないかを必ず示す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正しさの担保：研究資料の正解表と自動で照合している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1325880"/>
            <a:ext cx="5212080" cy="786384"/>
          </a:xfrm>
          <a:prstGeom prst="roundRect">
            <a:avLst>
              <a:gd name="adj" fmla="val 11628"/>
            </a:avLst>
          </a:prstGeom>
          <a:solidFill>
            <a:srgbClr val="2C3B7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29400" y="14173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語彙的意味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17465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場面から意味をつかむ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13055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2441448"/>
            <a:ext cx="5212080" cy="786384"/>
          </a:xfrm>
          <a:prstGeom prst="roundRect">
            <a:avLst>
              <a:gd name="adj" fmla="val 11628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29400" y="25328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素性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28620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継続性・動作性・意志性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32461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3557016"/>
            <a:ext cx="5212080" cy="786384"/>
          </a:xfrm>
          <a:prstGeom prst="roundRect">
            <a:avLst>
              <a:gd name="adj" fmla="val 11628"/>
            </a:avLst>
          </a:prstGeom>
          <a:solidFill>
            <a:srgbClr val="2C3B7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29400" y="364845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語彙的アスペクト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3977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8つのカテゴリー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43616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4672584"/>
            <a:ext cx="5212080" cy="786384"/>
          </a:xfrm>
          <a:prstGeom prst="roundRect">
            <a:avLst>
              <a:gd name="adj" fmla="val 11628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29400" y="476402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文法形式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結びつく／結びつかない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0" y="58064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この一貫した流れ自体が、本システムの軸になる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Step4の例文生成を見直す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0332720" y="51206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 w="12700">
            <a:solidFill>
              <a:srgbClr val="1D7F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332720" y="51206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7F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対応済み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577840" cy="1097280"/>
          </a:xfrm>
          <a:prstGeom prst="roundRect">
            <a:avLst>
              <a:gd name="adj" fmla="val 6667"/>
            </a:avLst>
          </a:prstGeom>
          <a:solidFill>
            <a:srgbClr val="EEF3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13441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指摘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1600200"/>
            <a:ext cx="5175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現状の例文には不自然なものがあるため、例文生成のテンプレートや生成方法を再検討する。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FDF0F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65176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35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改修前（テンプレート連結）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29260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「手が、だんだんべたべたしてきた。」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E9F5E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370332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7F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改修後（語ごとの書き下ろし）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3977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「汗をかいて、背中がだんだんべたべたしてきた。」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7091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7F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983480"/>
            <a:ext cx="5577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39語 × 2問 = 78問を個別に書き下ろし、連結による不自然さを解消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促音終わりの語は「と」を文側に入れ、選択肢は活用形のみに</a:t>
            </a:r>
            <a:endParaRPr lang="en-US" sz="1300" dirty="0"/>
          </a:p>
        </p:txBody>
      </p:sp>
      <p:pic>
        <p:nvPicPr>
          <p:cNvPr id="18" name="Image 0" descr="/home/claude/shots/c7_step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119045"/>
            <a:ext cx="5669280" cy="280279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E2761">
                <a:alpha val="22000"/>
              </a:srgbClr>
            </a:outerShdw>
          </a:effectLst>
        </p:spPr>
      </p:pic>
      <p:sp>
        <p:nvSpPr>
          <p:cNvPr id="19" name="Text 16"/>
          <p:cNvSpPr txBox="1"/>
          <p:nvPr/>
        </p:nvSpPr>
        <p:spPr>
          <a:xfrm>
            <a:off x="6400800" y="58978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Step4：語ごとに自然な文脈を用意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まとめと次の一手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6766560" cy="1188720"/>
          </a:xfrm>
          <a:prstGeom prst="roundRect">
            <a:avLst>
              <a:gd name="adj" fmla="val 7692"/>
            </a:avLst>
          </a:prstGeom>
          <a:solidFill>
            <a:srgbClr val="2C3B7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51560" y="1865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設計の軸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21945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前接条件を素性の集合として構造化し、判定とフィードバックを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素性照合から自動生成する形に統一した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3108960"/>
            <a:ext cx="6766560" cy="1188720"/>
          </a:xfrm>
          <a:prstGeom prst="roundRect">
            <a:avLst>
              <a:gd name="adj" fmla="val 7692"/>
            </a:avLst>
          </a:prstGeom>
          <a:solidFill>
            <a:srgbClr val="2C3B7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32369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学習の流れ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5661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フェーズ1で素性だけを扱い、フェーズ2で文法形式に進む。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1語＝5問の連鎖で、考える対象が順に切り替わる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4480560"/>
            <a:ext cx="6766560" cy="1188720"/>
          </a:xfrm>
          <a:prstGeom prst="roundRect">
            <a:avLst>
              <a:gd name="adj" fmla="val 7692"/>
            </a:avLst>
          </a:prstGeom>
          <a:solidFill>
            <a:srgbClr val="2C3B7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46085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品質の担保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49377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研究資料の正解表との80セル照合を自動検証。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全39語・全画面の動作も自動確認している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FCEFD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75320" y="19202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70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次にやること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28600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システムの狙い・独自性を文書に整理する（唯一の未対応項目）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31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一般的な教材との違いを、学習の流れとフィードバックの二点で示す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コメントへの対応状況</dc:title>
  <dc:subject>PptxGenJS Presentation</dc:subject>
  <dc:creator>オノマトペ学習支援システム</dc:creator>
  <cp:lastModifiedBy>オノマトペ学習支援システム</cp:lastModifiedBy>
  <cp:revision>1</cp:revision>
  <dcterms:created xsi:type="dcterms:W3CDTF">2026-09-15T07:21:04Z</dcterms:created>
  <dcterms:modified xsi:type="dcterms:W3CDTF">2026-09-15T07:21:04Z</dcterms:modified>
</cp:coreProperties>
</file>